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Montserrat"/>
      <p:regular r:id="rId25"/>
      <p:bold r:id="rId26"/>
      <p:italic r:id="rId27"/>
      <p:boldItalic r:id="rId28"/>
    </p:embeddedFont>
    <p:embeddedFont>
      <p:font typeface="Lato"/>
      <p:regular r:id="rId29"/>
      <p:bold r:id="rId30"/>
      <p:italic r:id="rId31"/>
      <p:boldItalic r:id="rId32"/>
    </p:embeddedFont>
    <p:embeddedFont>
      <p:font typeface="Roboto Mono"/>
      <p:regular r:id="rId33"/>
      <p:bold r:id="rId34"/>
      <p:italic r:id="rId35"/>
      <p:boldItalic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3DA132-D107-4A1F-A2DB-59E0797B629E}">
  <a:tblStyle styleId="{A73DA132-D107-4A1F-A2DB-59E0797B629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.fntdata"/><Relationship Id="rId25" Type="http://schemas.openxmlformats.org/officeDocument/2006/relationships/font" Target="fonts/Montserrat-regular.fntdata"/><Relationship Id="rId28" Type="http://schemas.openxmlformats.org/officeDocument/2006/relationships/font" Target="fonts/Montserrat-boldItalic.fntdata"/><Relationship Id="rId27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ato-italic.fntdata"/><Relationship Id="rId30" Type="http://schemas.openxmlformats.org/officeDocument/2006/relationships/font" Target="fonts/Lato-bold.fntdata"/><Relationship Id="rId11" Type="http://schemas.openxmlformats.org/officeDocument/2006/relationships/slide" Target="slides/slide5.xml"/><Relationship Id="rId33" Type="http://schemas.openxmlformats.org/officeDocument/2006/relationships/font" Target="fonts/RobotoMono-regular.fntdata"/><Relationship Id="rId10" Type="http://schemas.openxmlformats.org/officeDocument/2006/relationships/slide" Target="slides/slide4.xml"/><Relationship Id="rId32" Type="http://schemas.openxmlformats.org/officeDocument/2006/relationships/font" Target="fonts/Lato-boldItalic.fntdata"/><Relationship Id="rId13" Type="http://schemas.openxmlformats.org/officeDocument/2006/relationships/slide" Target="slides/slide7.xml"/><Relationship Id="rId35" Type="http://schemas.openxmlformats.org/officeDocument/2006/relationships/font" Target="fonts/RobotoMono-italic.fntdata"/><Relationship Id="rId12" Type="http://schemas.openxmlformats.org/officeDocument/2006/relationships/slide" Target="slides/slide6.xml"/><Relationship Id="rId34" Type="http://schemas.openxmlformats.org/officeDocument/2006/relationships/font" Target="fonts/RobotoMon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schemas.openxmlformats.org/officeDocument/2006/relationships/font" Target="fonts/RobotoMon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8ad6538de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8ad6538d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8ad6538de4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8ad6538de4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8ae5190f57_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8ae5190f57_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8ad6538de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8ad6538de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8ae5190f57_5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8ae5190f57_5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8ad6538de4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8ad6538de4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8ad6538de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8ad6538de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8ad6538de4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8ad6538de4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8ad6538de4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8ad6538de4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8ae5190f57_5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8ae5190f57_5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8ad6538de4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8ad6538de4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8ad6538de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8ad6538de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8ae5190f57_5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8ae5190f57_5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ad6538de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ad6538de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ad6538de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ad6538de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ad6538de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ad6538de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8ad6538de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8ad6538de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Fase 1 | Avance de Proyecto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506450" y="3157300"/>
            <a:ext cx="4048200" cy="147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A00830574 - Kailin Wu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A01796052 - Ivan Rodriguez Apolinar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A01797233 - Jorge Zepeda Tinoco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A01796415 - Marilyn Sofia Mori Castillo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A01796938 - Mario Arturo Salinas Rodriguez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875" y="2398326"/>
            <a:ext cx="2089025" cy="2422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1354226" y="3094383"/>
            <a:ext cx="770700" cy="5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4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55</a:t>
            </a:r>
            <a:endParaRPr b="1" sz="34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8" name="Google Shape;138;p13"/>
          <p:cNvSpPr txBox="1"/>
          <p:nvPr/>
        </p:nvSpPr>
        <p:spPr>
          <a:xfrm>
            <a:off x="1337008" y="3562702"/>
            <a:ext cx="841500" cy="4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Equipo</a:t>
            </a:r>
            <a:endParaRPr sz="13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Conocimientos Previos</a:t>
            </a:r>
            <a:endParaRPr/>
          </a:p>
        </p:txBody>
      </p:sp>
      <p:sp>
        <p:nvSpPr>
          <p:cNvPr id="144" name="Google Shape;144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Nombre del dataset: Steel Industry Energy Consumption (UCI)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Registros del dataset</a:t>
            </a:r>
            <a:r>
              <a:rPr lang="es-419"/>
              <a:t>: ~35,040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Atributos: variables continuas y categóricas; incluye fecha, consumo Usage_kWh, potencias reactivas, factores de potencia, CO₂, segundos desde medianoche, estado de semana y día de la semana; existe también Load_Type (Light/Medium/Maximum). Asociado por UCI a tarea de regresión y se puede plantear adicionalmente clasificación por Load_Type.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/>
              <a:t>Fuente/Contexto: datos de una acería pequeña en Gwangyang, Corea (Daewoo Steel), con consumo registrado en la nube; licencia CC BY 4.0.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5"/>
          <p:cNvSpPr txBox="1"/>
          <p:nvPr>
            <p:ph type="title"/>
          </p:nvPr>
        </p:nvSpPr>
        <p:spPr>
          <a:xfrm>
            <a:off x="1297500" y="52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</a:t>
            </a:r>
            <a:r>
              <a:rPr lang="es-419"/>
              <a:t>álisis del Problema</a:t>
            </a:r>
            <a:endParaRPr/>
          </a:p>
        </p:txBody>
      </p:sp>
      <p:pic>
        <p:nvPicPr>
          <p:cNvPr id="150" name="Google Shape;15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4625" y="506000"/>
            <a:ext cx="8357202" cy="4455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1297500" y="529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Análisis del Problema</a:t>
            </a:r>
            <a:endParaRPr/>
          </a:p>
        </p:txBody>
      </p:sp>
      <p:pic>
        <p:nvPicPr>
          <p:cNvPr id="156" name="Google Shape;156;p16" title="Captura de pantalla 2025-10-09 a la(s) 4.27.05 p.m.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51900" y="649975"/>
            <a:ext cx="6240199" cy="4408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Actividades por Rol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038150" y="1108925"/>
            <a:ext cx="7298400" cy="336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Data Engineer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-419"/>
              <a:t>Asegurar que los datos estén disponibles, limpios y estructurados para el análisis y entrenamiento de modelos.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Data Scientist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-419"/>
              <a:t>Desarrollar, entrenar y evaluar modelos que extraigan conocimiento y predicciones de los datos.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Software Engineer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-419"/>
              <a:t>Integrar el modelo dentro de un sistema de software estable, escalable y mantenible.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Site Reliability Engineer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-419"/>
              <a:t>Garantizar la confiabilidad, disponibilidad y rendimiento del sistema completo.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/>
              <a:t>ML Engineer</a:t>
            </a:r>
            <a:endParaRPr/>
          </a:p>
          <a:p>
            <a:pPr indent="-29876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s-419"/>
              <a:t>Operacionalizar el modelo de Machine Learning (pasar de experimento a producto funcional).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Actividades por Rol</a:t>
            </a:r>
            <a:endParaRPr/>
          </a:p>
        </p:txBody>
      </p:sp>
      <p:graphicFrame>
        <p:nvGraphicFramePr>
          <p:cNvPr id="168" name="Google Shape;168;p18"/>
          <p:cNvGraphicFramePr/>
          <p:nvPr/>
        </p:nvGraphicFramePr>
        <p:xfrm>
          <a:off x="197500" y="134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{A73DA132-D107-4A1F-A2DB-59E0797B629E}</a:tableStyleId>
              </a:tblPr>
              <a:tblGrid>
                <a:gridCol w="1732500"/>
                <a:gridCol w="1732500"/>
                <a:gridCol w="1732500"/>
                <a:gridCol w="1732500"/>
                <a:gridCol w="1732500"/>
              </a:tblGrid>
              <a:tr h="5475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solidFill>
                            <a:schemeClr val="lt1"/>
                          </a:solidFill>
                        </a:rPr>
                        <a:t>Data Engineer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solidFill>
                            <a:schemeClr val="lt1"/>
                          </a:solidFill>
                        </a:rPr>
                        <a:t>Data Scientist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solidFill>
                            <a:schemeClr val="lt1"/>
                          </a:solidFill>
                        </a:rPr>
                        <a:t>Software Engineer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solidFill>
                            <a:schemeClr val="lt1"/>
                          </a:solidFill>
                        </a:rPr>
                        <a:t>ML Engineer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s-419">
                          <a:solidFill>
                            <a:schemeClr val="lt1"/>
                          </a:solidFill>
                        </a:rPr>
                        <a:t>Site Reliability Engineer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Ingesta y almacenamiento de datos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Análisis exploratorio de datos (EDA)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Desarrollo de APIs y servicios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Construcción de pipelines de entrenamiento y despliegue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Monitoreo y observabilidad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Transformación y limpieza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Selección de variables y modelado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Pruebas y calidad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Versionado y monitoreo de modelos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Gestión de infraestructura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Gestión de infraestructura de datos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Ajuste y validación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Optimización de rendimiento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Optimización de inferencia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Gestión de incidentes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  <a:tr h="504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Versionado y trazabilidad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Interpretabilidad y documentación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Integración continua (CI/CD)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Mantenimiento y retraining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1200">
                          <a:solidFill>
                            <a:schemeClr val="lt1"/>
                          </a:solidFill>
                        </a:rPr>
                        <a:t>Automatización de operaciones</a:t>
                      </a:r>
                      <a:endParaRPr sz="1200">
                        <a:solidFill>
                          <a:schemeClr val="lt1"/>
                        </a:solidFill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Manipulación y preparación de datos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Métodos y técnicas a utilizar</a:t>
            </a:r>
            <a:endParaRPr/>
          </a:p>
        </p:txBody>
      </p:sp>
      <p:sp>
        <p:nvSpPr>
          <p:cNvPr id="179" name="Google Shape;179;p20"/>
          <p:cNvSpPr txBox="1"/>
          <p:nvPr>
            <p:ph idx="1" type="body"/>
          </p:nvPr>
        </p:nvSpPr>
        <p:spPr>
          <a:xfrm>
            <a:off x="1297500" y="155970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Garantizar que los datos sean de calidad, consistentes y listos para el entrenamiento del modelo.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Principales tareas realizadas: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Limpieza de datos: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eliminación de duplicados, corrección de valores atípicos y tratamiento de valores nulos.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Homologación de variables: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unificación de formatos, unidades y codificación de categorías.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Conversión de tipos de datos: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corrección de columnas con formatos erróneos (por ejemplo, fechas o variables categóricas).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Imputación de valores faltantes: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mediante media, mediana, moda o propagación temporal (usando el siguiente o anterior valor válido).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20" title="limpiez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388" y="4230075"/>
            <a:ext cx="7903215" cy="36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Versionado de Datos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Métodos y técnicas a utilizar</a:t>
            </a:r>
            <a:endParaRPr/>
          </a:p>
        </p:txBody>
      </p:sp>
      <p:sp>
        <p:nvSpPr>
          <p:cNvPr id="191" name="Google Shape;191;p22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Garantizar la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reproducibilidad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trazabilidad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control de cambios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en los conjuntos de datos utilizados a lo largo del ciclo de vida del proyecto.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Importancia: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Permite regresar a versiones previas del dataset.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Asegura que los experimentos puedan replicarse con los mismos datos.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Facilita el trabajo colaborativo entre equipos (Data Engineers, Data Scientists, ML Engineers).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Reduce errores causados por cambios no controlados en los datos.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2" name="Google Shape;192;p22" title="version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97500" y="3726725"/>
            <a:ext cx="6505437" cy="359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Métodos y técnicas a utilizar</a:t>
            </a:r>
            <a:endParaRPr/>
          </a:p>
        </p:txBody>
      </p:sp>
      <p:sp>
        <p:nvSpPr>
          <p:cNvPr id="198" name="Google Shape;198;p23"/>
          <p:cNvSpPr txBox="1"/>
          <p:nvPr>
            <p:ph idx="1" type="body"/>
          </p:nvPr>
        </p:nvSpPr>
        <p:spPr>
          <a:xfrm>
            <a:off x="1234750" y="1085325"/>
            <a:ext cx="7101600" cy="366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Herramienta empleada: Git Hub y DVC (Data Version Control)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Actividades realizadas: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Inicialización de repositorio: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latin typeface="Roboto Mono"/>
                <a:ea typeface="Roboto Mono"/>
                <a:cs typeface="Roboto Mono"/>
                <a:sym typeface="Roboto Mono"/>
              </a:rPr>
              <a:t>git init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s-419" sz="1100">
                <a:latin typeface="Roboto Mono"/>
                <a:ea typeface="Roboto Mono"/>
                <a:cs typeface="Roboto Mono"/>
                <a:sym typeface="Roboto Mono"/>
              </a:rPr>
              <a:t>dvc init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para establecer control conjunto de código y datos.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Versionado de datasets: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latin typeface="Roboto Mono"/>
                <a:ea typeface="Roboto Mono"/>
                <a:cs typeface="Roboto Mono"/>
                <a:sym typeface="Roboto Mono"/>
              </a:rPr>
              <a:t>dvc add data/dataset.csv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→ registra el archivo con un </a:t>
            </a:r>
            <a:r>
              <a:rPr i="1" lang="es-419" sz="1100">
                <a:latin typeface="Arial"/>
                <a:ea typeface="Arial"/>
                <a:cs typeface="Arial"/>
                <a:sym typeface="Arial"/>
              </a:rPr>
              <a:t>hash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único.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Almacenamiento remoto: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Configuración de almacenamiento en la nube (ej. AWS S3, Google Drive, Azure).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Sincronización y actualización: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419" sz="1100">
                <a:latin typeface="Roboto Mono"/>
                <a:ea typeface="Roboto Mono"/>
                <a:cs typeface="Roboto Mono"/>
                <a:sym typeface="Roboto Mono"/>
              </a:rPr>
              <a:t>dvc push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lang="es-419" sz="1100">
                <a:latin typeface="Roboto Mono"/>
                <a:ea typeface="Roboto Mono"/>
                <a:cs typeface="Roboto Mono"/>
                <a:sym typeface="Roboto Mono"/>
              </a:rPr>
              <a:t>dvc pull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para compartir o recuperar versiones específicas.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Trazabilidad: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Cada versión de datos queda vinculada a un </a:t>
            </a:r>
            <a:r>
              <a:rPr i="1" lang="es-419" sz="1100">
                <a:latin typeface="Arial"/>
                <a:ea typeface="Arial"/>
                <a:cs typeface="Arial"/>
                <a:sym typeface="Arial"/>
              </a:rPr>
              <a:t>commit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de código en Git.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Resultados obtenidos: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Control total de versiones de datos y modelos.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Reducción de conflictos en trabajo colaborativo.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Reproducción exacta de experimentos pasados.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Exploración y preprocesamiento de datos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Métodos y técnicas a utilizar</a:t>
            </a:r>
            <a:endParaRPr/>
          </a:p>
        </p:txBody>
      </p:sp>
      <p:sp>
        <p:nvSpPr>
          <p:cNvPr id="209" name="Google Shape;209;p25"/>
          <p:cNvSpPr txBox="1"/>
          <p:nvPr>
            <p:ph idx="1" type="body"/>
          </p:nvPr>
        </p:nvSpPr>
        <p:spPr>
          <a:xfrm>
            <a:off x="1297500" y="920175"/>
            <a:ext cx="7038900" cy="406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Comprender las características de los datos y aplicar transformaciones que optimicen el rendimiento del modelo.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Actividades realizadas: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Análisis exploratorio (EDA):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Identificación de patrones, correlaciones y distribución de variables.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Visualización de datos mediante histogramas, diagramas de caja y mapas de calor.</a:t>
            </a:r>
            <a:br>
              <a:rPr lang="es-419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Análisis de correlación: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Detección de variables redundantes o altamente correlacionadas.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Reducción de dimensionalidad para evitar multicolinealidad.</a:t>
            </a:r>
            <a:br>
              <a:rPr lang="es-419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Detección de outliers: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Uso de métodos estadísticos (IQR, z-score) para eliminar valores atípicos.</a:t>
            </a:r>
            <a:br>
              <a:rPr lang="es-419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Preprocesamiento: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Escalado de variables numéricas (</a:t>
            </a:r>
            <a:r>
              <a:rPr lang="es-419">
                <a:latin typeface="Roboto Mono"/>
                <a:ea typeface="Roboto Mono"/>
                <a:cs typeface="Roboto Mono"/>
                <a:sym typeface="Roboto Mono"/>
              </a:rPr>
              <a:t>StandardScaler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419">
                <a:latin typeface="Roboto Mono"/>
                <a:ea typeface="Roboto Mono"/>
                <a:cs typeface="Roboto Mono"/>
                <a:sym typeface="Roboto Mono"/>
              </a:rPr>
              <a:t>MinMaxScaler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Codificación de variables categóricas (</a:t>
            </a:r>
            <a:r>
              <a:rPr lang="es-419">
                <a:latin typeface="Roboto Mono"/>
                <a:ea typeface="Roboto Mono"/>
                <a:cs typeface="Roboto Mono"/>
                <a:sym typeface="Roboto Mono"/>
              </a:rPr>
              <a:t>OneHotEncoder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-419">
                <a:latin typeface="Roboto Mono"/>
                <a:ea typeface="Roboto Mono"/>
                <a:cs typeface="Roboto Mono"/>
                <a:sym typeface="Roboto Mono"/>
              </a:rPr>
              <a:t>OrdinalEncoder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3211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Balanceo de clases si el dataset es desbalanceado (SMOTE, undersampling, oversampling).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Resultado: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Conjunto de datos depurado y transformado, listo para el entrenamiento de los modelos de Machine Learning.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Métodos y técnicas a utilizar</a:t>
            </a:r>
            <a:endParaRPr/>
          </a:p>
        </p:txBody>
      </p:sp>
      <p:sp>
        <p:nvSpPr>
          <p:cNvPr id="215" name="Google Shape;215;p26"/>
          <p:cNvSpPr txBox="1"/>
          <p:nvPr>
            <p:ph idx="1" type="body"/>
          </p:nvPr>
        </p:nvSpPr>
        <p:spPr>
          <a:xfrm>
            <a:off x="1297500" y="1211175"/>
            <a:ext cx="7038900" cy="326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Principales hallazgos: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Identificación de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distribuciones sesgadas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 y aplicación de transformaciones logarítmicas o Box-Cox.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Eliminación o sustitución de </a:t>
            </a: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outliers extremos</a:t>
            </a:r>
            <a:r>
              <a:rPr lang="es-419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Homologación de variables categóricas inconsistentes.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Normalización de todas las variables numéricas.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Reducción de dimensionalidad y mejora en la varianza explicada del modelo.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Beneficio: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Datos más consistentes, representativos y adecuados para el proceso de modelado, garantizando estabilidad en los resultados.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26" title="preprocesa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80425" y="3691500"/>
            <a:ext cx="7083101" cy="3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7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Construcción, ajuste y evaluación de Modelos de Machine Learning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Métodos y técnicas a utilizar</a:t>
            </a:r>
            <a:endParaRPr/>
          </a:p>
        </p:txBody>
      </p:sp>
      <p:sp>
        <p:nvSpPr>
          <p:cNvPr id="227" name="Google Shape;227;p28"/>
          <p:cNvSpPr txBox="1"/>
          <p:nvPr>
            <p:ph idx="1" type="body"/>
          </p:nvPr>
        </p:nvSpPr>
        <p:spPr>
          <a:xfrm>
            <a:off x="1297500" y="1069600"/>
            <a:ext cx="7038900" cy="37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100">
                <a:latin typeface="Arial"/>
                <a:ea typeface="Arial"/>
                <a:cs typeface="Arial"/>
                <a:sym typeface="Arial"/>
              </a:rPr>
              <a:t>Desarrollar, entrenar y evaluar modelos predictivos que ofrezcan el mejor desempeño posible con los datos procesados.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Actividades realizadas: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Selección de algoritmos apropiados: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Se probaron diversos modelos según el tipo de problema (clasificación/regresión), tales como:</a:t>
            </a:r>
            <a:br>
              <a:rPr lang="es-419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i="1" lang="es-419">
                <a:latin typeface="Arial"/>
                <a:ea typeface="Arial"/>
                <a:cs typeface="Arial"/>
                <a:sym typeface="Arial"/>
              </a:rPr>
              <a:t>Árboles de decisión, Random Forest, SVM, Regresión Logística, KNN, XGBoost, Redes Neuronales.</a:t>
            </a:r>
            <a:br>
              <a:rPr i="1" lang="es-419">
                <a:latin typeface="Arial"/>
                <a:ea typeface="Arial"/>
                <a:cs typeface="Arial"/>
                <a:sym typeface="Arial"/>
              </a:rPr>
            </a:br>
            <a:endParaRPr i="1"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Entrenamiento del modelo: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División de datos en conjuntos de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entrenamiento (train)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prueba (test)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Uso de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validación cruzada (cross-validation)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 para estimar el desempeño.</a:t>
            </a:r>
            <a:br>
              <a:rPr lang="es-419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Ajuste de hiperparámetros</a:t>
            </a:r>
            <a:br>
              <a:rPr lang="es-419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●"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Evaluación del rendimiento: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Aplicación de métricas específicas: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accuracy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precision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recall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F1-score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ROC-AUC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87972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Char char="○"/>
            </a:pPr>
            <a:r>
              <a:rPr lang="es-419">
                <a:latin typeface="Arial"/>
                <a:ea typeface="Arial"/>
                <a:cs typeface="Arial"/>
                <a:sym typeface="Arial"/>
              </a:rPr>
              <a:t>Visualización con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matriz de confusión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curva ROC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s-419">
                <a:latin typeface="Arial"/>
                <a:ea typeface="Arial"/>
                <a:cs typeface="Arial"/>
                <a:sym typeface="Arial"/>
              </a:rPr>
              <a:t>gráficos de importancia de variables</a:t>
            </a:r>
            <a:r>
              <a:rPr lang="es-419"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s-419">
                <a:latin typeface="Arial"/>
                <a:ea typeface="Arial"/>
                <a:cs typeface="Arial"/>
                <a:sym typeface="Arial"/>
              </a:rPr>
            </a:b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s-419" sz="1100">
                <a:latin typeface="Arial"/>
                <a:ea typeface="Arial"/>
                <a:cs typeface="Arial"/>
                <a:sym typeface="Arial"/>
              </a:rPr>
              <a:t>Resultado:</a:t>
            </a:r>
            <a:br>
              <a:rPr b="1" lang="es-419" sz="1100">
                <a:latin typeface="Arial"/>
                <a:ea typeface="Arial"/>
                <a:cs typeface="Arial"/>
                <a:sym typeface="Arial"/>
              </a:rPr>
            </a:br>
            <a:r>
              <a:rPr lang="es-419" sz="1100">
                <a:latin typeface="Arial"/>
                <a:ea typeface="Arial"/>
                <a:cs typeface="Arial"/>
                <a:sym typeface="Arial"/>
              </a:rPr>
              <a:t> Modelo con el mejor equilibrio entre precisión y generalización, validado y documentado para su posterior despliegue.</a:t>
            </a:r>
            <a:endParaRPr/>
          </a:p>
        </p:txBody>
      </p:sp>
      <p:pic>
        <p:nvPicPr>
          <p:cNvPr id="228" name="Google Shape;228;p28" title="model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7488" y="4651000"/>
            <a:ext cx="6189025" cy="28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Resultados</a:t>
            </a:r>
            <a:endParaRPr/>
          </a:p>
        </p:txBody>
      </p:sp>
      <p:sp>
        <p:nvSpPr>
          <p:cNvPr id="234" name="Google Shape;234;p2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-419"/>
              <a:t>Criterio: Obtienen resultados de validez demostrable y proporcionan fundamento metodológico para la obtención de los mismos. Presentan los resultados de forma clara y concisa.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Conclusiones</a:t>
            </a:r>
            <a:endParaRPr/>
          </a:p>
        </p:txBody>
      </p:sp>
      <p:sp>
        <p:nvSpPr>
          <p:cNvPr id="240" name="Google Shape;240;p3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